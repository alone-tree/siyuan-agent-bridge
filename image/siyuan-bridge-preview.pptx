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7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394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图中绝大部分元素为 PPT 可编辑形状与文字；产品 Logo 已去白底，作为透明 PNG 插入。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3931920"/>
            <a:ext cx="3566160" cy="164592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E4EEFF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114800"/>
            <a:ext cx="320040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417320"/>
            <a:ext cx="1261872" cy="2148840"/>
          </a:xfrm>
          <a:prstGeom prst="roundRect">
            <a:avLst>
              <a:gd name="adj" fmla="val 5797"/>
            </a:avLst>
          </a:prstGeom>
          <a:solidFill>
            <a:srgbClr val="FFFFFF">
              <a:alpha val="94000"/>
            </a:srgbClr>
          </a:solidFill>
          <a:ln w="10160">
            <a:solidFill>
              <a:srgbClr val="E2EBFA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2608" y="151790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82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思源笔记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20040" y="1783080"/>
            <a:ext cx="868680" cy="0"/>
          </a:xfrm>
          <a:prstGeom prst="line">
            <a:avLst/>
          </a:prstGeom>
          <a:noFill/>
          <a:ln w="10160">
            <a:solidFill>
              <a:srgbClr val="DFE8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0896" y="1901952"/>
            <a:ext cx="54864" cy="54864"/>
          </a:xfrm>
          <a:prstGeom prst="ellipse">
            <a:avLst/>
          </a:prstGeom>
          <a:solidFill>
            <a:srgbClr val="1673FF"/>
          </a:solidFill>
          <a:ln w="12700">
            <a:solidFill>
              <a:srgbClr val="1673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" y="1911096"/>
            <a:ext cx="594360" cy="32004"/>
          </a:xfrm>
          <a:prstGeom prst="roundRect">
            <a:avLst>
              <a:gd name="adj" fmla="val 57143"/>
            </a:avLst>
          </a:prstGeom>
          <a:solidFill>
            <a:srgbClr val="1673FF"/>
          </a:solidFill>
          <a:ln w="12700">
            <a:solidFill>
              <a:srgbClr val="1673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2336" y="2176272"/>
            <a:ext cx="54864" cy="54864"/>
          </a:xfrm>
          <a:prstGeom prst="ellipse">
            <a:avLst/>
          </a:prstGeom>
          <a:solidFill>
            <a:srgbClr val="1673FF"/>
          </a:solidFill>
          <a:ln w="12700">
            <a:solidFill>
              <a:srgbClr val="1673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" y="2185416"/>
            <a:ext cx="484632" cy="32004"/>
          </a:xfrm>
          <a:prstGeom prst="roundRect">
            <a:avLst>
              <a:gd name="adj" fmla="val 57143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0896" y="2450592"/>
            <a:ext cx="54864" cy="54864"/>
          </a:xfrm>
          <a:prstGeom prst="ellipse">
            <a:avLst/>
          </a:prstGeom>
          <a:solidFill>
            <a:srgbClr val="1673FF"/>
          </a:solidFill>
          <a:ln w="12700">
            <a:solidFill>
              <a:srgbClr val="1673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" y="2459736"/>
            <a:ext cx="374904" cy="32004"/>
          </a:xfrm>
          <a:prstGeom prst="roundRect">
            <a:avLst>
              <a:gd name="adj" fmla="val 57143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2336" y="2724912"/>
            <a:ext cx="54864" cy="54864"/>
          </a:xfrm>
          <a:prstGeom prst="ellipse">
            <a:avLst/>
          </a:prstGeom>
          <a:solidFill>
            <a:srgbClr val="1673FF"/>
          </a:solidFill>
          <a:ln w="12700">
            <a:solidFill>
              <a:srgbClr val="167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" y="2734056"/>
            <a:ext cx="594360" cy="32004"/>
          </a:xfrm>
          <a:prstGeom prst="roundRect">
            <a:avLst>
              <a:gd name="adj" fmla="val 57143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0896" y="2999232"/>
            <a:ext cx="54864" cy="54864"/>
          </a:xfrm>
          <a:prstGeom prst="ellipse">
            <a:avLst/>
          </a:prstGeom>
          <a:solidFill>
            <a:srgbClr val="C9D6E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" y="3008376"/>
            <a:ext cx="484632" cy="32004"/>
          </a:xfrm>
          <a:prstGeom prst="roundRect">
            <a:avLst>
              <a:gd name="adj" fmla="val 57143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" y="3273552"/>
            <a:ext cx="54864" cy="54864"/>
          </a:xfrm>
          <a:prstGeom prst="ellipse">
            <a:avLst/>
          </a:prstGeom>
          <a:solidFill>
            <a:srgbClr val="C9D6E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" y="3282696"/>
            <a:ext cx="374904" cy="32004"/>
          </a:xfrm>
          <a:prstGeom prst="roundRect">
            <a:avLst>
              <a:gd name="adj" fmla="val 57143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3100" y="2640584"/>
            <a:ext cx="978408" cy="201168"/>
          </a:xfrm>
          <a:prstGeom prst="roundRect">
            <a:avLst>
              <a:gd name="adj" fmla="val 18182"/>
            </a:avLst>
          </a:prstGeom>
          <a:solidFill>
            <a:srgbClr val="EAF2FF">
              <a:alpha val="90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8328" y="1993646"/>
            <a:ext cx="0" cy="413004"/>
          </a:xfrm>
          <a:prstGeom prst="line">
            <a:avLst/>
          </a:prstGeom>
          <a:noFill/>
          <a:ln w="8890">
            <a:solidFill>
              <a:srgbClr val="D9E6F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72768" y="2468880"/>
            <a:ext cx="274320" cy="0"/>
          </a:xfrm>
          <a:prstGeom prst="line">
            <a:avLst/>
          </a:prstGeom>
          <a:noFill/>
          <a:ln w="17780">
            <a:solidFill>
              <a:srgbClr val="1673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490472" y="2432304"/>
            <a:ext cx="73152" cy="73152"/>
          </a:xfrm>
          <a:prstGeom prst="ellipse">
            <a:avLst/>
          </a:prstGeom>
          <a:solidFill>
            <a:srgbClr val="1673FF"/>
          </a:solidFill>
          <a:ln w="12700">
            <a:solidFill>
              <a:srgbClr val="1673FF"/>
            </a:solidFill>
            <a:prstDash val="solid"/>
          </a:ln>
        </p:spPr>
      </p:sp>
      <p:pic>
        <p:nvPicPr>
          <p:cNvPr id="24" name="Image 1" descr="/mnt/data/siyuan_bridge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2029968"/>
            <a:ext cx="1627632" cy="13716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566160" y="2468880"/>
            <a:ext cx="201168" cy="0"/>
          </a:xfrm>
          <a:prstGeom prst="line">
            <a:avLst/>
          </a:prstGeom>
          <a:noFill/>
          <a:ln w="17780">
            <a:solidFill>
              <a:srgbClr val="1673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767328" y="2432304"/>
            <a:ext cx="73152" cy="73152"/>
          </a:xfrm>
          <a:prstGeom prst="ellipse">
            <a:avLst/>
          </a:prstGeom>
          <a:solidFill>
            <a:srgbClr val="1673FF"/>
          </a:solidFill>
          <a:ln w="12700">
            <a:solidFill>
              <a:srgbClr val="1673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886200" y="1417320"/>
            <a:ext cx="1444752" cy="2148840"/>
          </a:xfrm>
          <a:prstGeom prst="roundRect">
            <a:avLst>
              <a:gd name="adj" fmla="val 5063"/>
            </a:avLst>
          </a:prstGeom>
          <a:solidFill>
            <a:srgbClr val="FFFFFF">
              <a:alpha val="94000"/>
            </a:srgbClr>
          </a:solidFill>
          <a:ln w="10160">
            <a:solidFill>
              <a:srgbClr val="E2EBFA">
                <a:alpha val="8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041648" y="15727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82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AI Agent</a:t>
            </a:r>
          </a:p>
        </p:txBody>
      </p:sp>
      <p:sp>
        <p:nvSpPr>
          <p:cNvPr id="29" name="Shape 25"/>
          <p:cNvSpPr/>
          <p:nvPr/>
        </p:nvSpPr>
        <p:spPr>
          <a:xfrm>
            <a:off x="4005072" y="1901952"/>
            <a:ext cx="1170432" cy="1051560"/>
          </a:xfrm>
          <a:prstGeom prst="roundRect">
            <a:avLst>
              <a:gd name="adj" fmla="val 5217"/>
            </a:avLst>
          </a:prstGeom>
          <a:solidFill>
            <a:srgbClr val="F8FBFF"/>
          </a:solidFill>
          <a:ln w="8890">
            <a:solidFill>
              <a:srgbClr val="E4EDF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096512" y="199339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8C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‹/›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4160520" y="2221992"/>
            <a:ext cx="822960" cy="32004"/>
          </a:xfrm>
          <a:prstGeom prst="roundRect">
            <a:avLst>
              <a:gd name="adj" fmla="val 57143"/>
            </a:avLst>
          </a:prstGeom>
          <a:solidFill>
            <a:srgbClr val="BFD4F4"/>
          </a:solidFill>
          <a:ln w="12700">
            <a:solidFill>
              <a:srgbClr val="BFD4F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160520" y="2340864"/>
            <a:ext cx="694944" cy="32004"/>
          </a:xfrm>
          <a:prstGeom prst="roundRect">
            <a:avLst>
              <a:gd name="adj" fmla="val 57143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60520" y="2459736"/>
            <a:ext cx="566928" cy="32004"/>
          </a:xfrm>
          <a:prstGeom prst="roundRect">
            <a:avLst>
              <a:gd name="adj" fmla="val 57143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160520" y="2578608"/>
            <a:ext cx="438912" cy="32004"/>
          </a:xfrm>
          <a:prstGeom prst="roundRect">
            <a:avLst>
              <a:gd name="adj" fmla="val 57143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160520" y="2697480"/>
            <a:ext cx="822960" cy="32004"/>
          </a:xfrm>
          <a:prstGeom prst="roundRect">
            <a:avLst>
              <a:gd name="adj" fmla="val 57143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160520" y="2816352"/>
            <a:ext cx="694944" cy="32004"/>
          </a:xfrm>
          <a:prstGeom prst="roundRect">
            <a:avLst>
              <a:gd name="adj" fmla="val 57143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005072" y="3063240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8890">
            <a:solidFill>
              <a:srgbClr val="E5EEF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11480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67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</a:t>
            </a:r>
            <a:endParaRPr lang="en-US" sz="1900" dirty="0"/>
          </a:p>
        </p:txBody>
      </p:sp>
      <p:sp>
        <p:nvSpPr>
          <p:cNvPr id="39" name="Shape 35"/>
          <p:cNvSpPr/>
          <p:nvPr/>
        </p:nvSpPr>
        <p:spPr>
          <a:xfrm>
            <a:off x="4617720" y="3063240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8890">
            <a:solidFill>
              <a:srgbClr val="E5EEF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45736" y="3136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8FB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▣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5742432" y="16276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82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思源桥</a:t>
            </a:r>
            <a:endParaRPr lang="en-US" sz="3300" dirty="0"/>
          </a:p>
        </p:txBody>
      </p:sp>
      <p:sp>
        <p:nvSpPr>
          <p:cNvPr id="42" name="Text 38"/>
          <p:cNvSpPr/>
          <p:nvPr/>
        </p:nvSpPr>
        <p:spPr>
          <a:xfrm>
            <a:off x="7410196" y="1655064"/>
            <a:ext cx="10754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67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3300" dirty="0"/>
          </a:p>
        </p:txBody>
      </p:sp>
      <p:sp>
        <p:nvSpPr>
          <p:cNvPr id="43" name="Text 39"/>
          <p:cNvSpPr/>
          <p:nvPr/>
        </p:nvSpPr>
        <p:spPr>
          <a:xfrm>
            <a:off x="5760720" y="2286000"/>
            <a:ext cx="2818384" cy="70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82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Agent </a:t>
            </a:r>
            <a:r>
              <a:rPr lang="en-US" sz="1550" b="1" dirty="0" err="1">
                <a:solidFill>
                  <a:srgbClr val="082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像操作代码库一样</a:t>
            </a:r>
            <a:endParaRPr lang="en-US" sz="1550" b="1" dirty="0">
              <a:solidFill>
                <a:srgbClr val="08204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sz="1550" b="1" dirty="0" err="1">
                <a:solidFill>
                  <a:srgbClr val="082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操作思源笔记</a:t>
            </a:r>
            <a:endParaRPr lang="en-US" sz="1550" dirty="0"/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1B136C58-5FC3-ADA3-D50E-06138A5ED09C}"/>
              </a:ext>
            </a:extLst>
          </p:cNvPr>
          <p:cNvGrpSpPr/>
          <p:nvPr/>
        </p:nvGrpSpPr>
        <p:grpSpPr>
          <a:xfrm>
            <a:off x="6411803" y="3201242"/>
            <a:ext cx="746497" cy="347472"/>
            <a:chOff x="6693408" y="2971800"/>
            <a:chExt cx="841248" cy="347472"/>
          </a:xfrm>
        </p:grpSpPr>
        <p:sp>
          <p:nvSpPr>
            <p:cNvPr id="47" name="Shape 43"/>
            <p:cNvSpPr/>
            <p:nvPr/>
          </p:nvSpPr>
          <p:spPr>
            <a:xfrm>
              <a:off x="6693408" y="2971800"/>
              <a:ext cx="841248" cy="347472"/>
            </a:xfrm>
            <a:prstGeom prst="roundRect">
              <a:avLst>
                <a:gd name="adj" fmla="val 36842"/>
              </a:avLst>
            </a:prstGeom>
            <a:solidFill>
              <a:srgbClr val="FFFFFF">
                <a:alpha val="90000"/>
              </a:srgbClr>
            </a:solidFill>
            <a:ln w="10160">
              <a:solidFill>
                <a:srgbClr val="BCD1F0"/>
              </a:solidFill>
              <a:prstDash val="solid"/>
            </a:ln>
          </p:spPr>
        </p:sp>
        <p:sp>
          <p:nvSpPr>
            <p:cNvPr id="48" name="Text 44"/>
            <p:cNvSpPr/>
            <p:nvPr/>
          </p:nvSpPr>
          <p:spPr>
            <a:xfrm>
              <a:off x="6803136" y="3044952"/>
              <a:ext cx="182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endParaRPr lang="en-US" sz="1350" dirty="0"/>
            </a:p>
          </p:txBody>
        </p:sp>
        <p:sp>
          <p:nvSpPr>
            <p:cNvPr id="49" name="Text 45"/>
            <p:cNvSpPr/>
            <p:nvPr/>
          </p:nvSpPr>
          <p:spPr>
            <a:xfrm>
              <a:off x="7013448" y="3058668"/>
              <a:ext cx="45720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8204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稳定</a:t>
              </a:r>
              <a:endParaRPr lang="en-US" sz="1150" dirty="0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66CE12DD-DF80-9952-4F0C-A70A70455D0C}"/>
              </a:ext>
            </a:extLst>
          </p:cNvPr>
          <p:cNvGrpSpPr/>
          <p:nvPr/>
        </p:nvGrpSpPr>
        <p:grpSpPr>
          <a:xfrm>
            <a:off x="7258732" y="3203274"/>
            <a:ext cx="746494" cy="347472"/>
            <a:chOff x="8394192" y="2971800"/>
            <a:chExt cx="640080" cy="347472"/>
          </a:xfrm>
        </p:grpSpPr>
        <p:sp>
          <p:nvSpPr>
            <p:cNvPr id="53" name="Shape 49"/>
            <p:cNvSpPr/>
            <p:nvPr/>
          </p:nvSpPr>
          <p:spPr>
            <a:xfrm>
              <a:off x="8394192" y="2971800"/>
              <a:ext cx="640080" cy="347472"/>
            </a:xfrm>
            <a:prstGeom prst="roundRect">
              <a:avLst>
                <a:gd name="adj" fmla="val 36842"/>
              </a:avLst>
            </a:prstGeom>
            <a:solidFill>
              <a:srgbClr val="FFFFFF">
                <a:alpha val="90000"/>
              </a:srgbClr>
            </a:solidFill>
            <a:ln w="10160">
              <a:solidFill>
                <a:srgbClr val="BCD1F0"/>
              </a:solidFill>
              <a:prstDash val="solid"/>
            </a:ln>
          </p:spPr>
        </p:sp>
        <p:sp>
          <p:nvSpPr>
            <p:cNvPr id="54" name="Text 50"/>
            <p:cNvSpPr/>
            <p:nvPr/>
          </p:nvSpPr>
          <p:spPr>
            <a:xfrm>
              <a:off x="8445844" y="3041142"/>
              <a:ext cx="163400" cy="2182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673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♡</a:t>
              </a:r>
              <a:endParaRPr lang="en-US" sz="1350" dirty="0"/>
            </a:p>
          </p:txBody>
        </p:sp>
        <p:sp>
          <p:nvSpPr>
            <p:cNvPr id="55" name="Text 51"/>
            <p:cNvSpPr/>
            <p:nvPr/>
          </p:nvSpPr>
          <p:spPr>
            <a:xfrm>
              <a:off x="8630861" y="3072130"/>
              <a:ext cx="2560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8204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省心</a:t>
              </a:r>
              <a:endParaRPr lang="en-US" sz="1150" dirty="0"/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E1DB0D3C-2610-36A0-4CBB-6CEA5197D3CA}"/>
              </a:ext>
            </a:extLst>
          </p:cNvPr>
          <p:cNvGrpSpPr/>
          <p:nvPr/>
        </p:nvGrpSpPr>
        <p:grpSpPr>
          <a:xfrm>
            <a:off x="7072917" y="3721610"/>
            <a:ext cx="1783080" cy="347472"/>
            <a:chOff x="7150608" y="3675888"/>
            <a:chExt cx="1783080" cy="347472"/>
          </a:xfrm>
        </p:grpSpPr>
        <p:sp>
          <p:nvSpPr>
            <p:cNvPr id="59" name="Shape 55"/>
            <p:cNvSpPr/>
            <p:nvPr/>
          </p:nvSpPr>
          <p:spPr>
            <a:xfrm>
              <a:off x="7150608" y="3675888"/>
              <a:ext cx="1783080" cy="347472"/>
            </a:xfrm>
            <a:prstGeom prst="roundRect">
              <a:avLst>
                <a:gd name="adj" fmla="val 36842"/>
              </a:avLst>
            </a:prstGeom>
            <a:solidFill>
              <a:srgbClr val="FFFFFF">
                <a:alpha val="90000"/>
              </a:srgbClr>
            </a:solidFill>
            <a:ln w="10160">
              <a:solidFill>
                <a:srgbClr val="BCD1F0"/>
              </a:solidFill>
              <a:prstDash val="solid"/>
            </a:ln>
          </p:spPr>
        </p:sp>
        <p:sp>
          <p:nvSpPr>
            <p:cNvPr id="60" name="Text 56"/>
            <p:cNvSpPr/>
            <p:nvPr/>
          </p:nvSpPr>
          <p:spPr>
            <a:xfrm>
              <a:off x="7260336" y="3749040"/>
              <a:ext cx="182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673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‹/›</a:t>
              </a:r>
              <a:endParaRPr lang="en-US" sz="1350" dirty="0"/>
            </a:p>
          </p:txBody>
        </p:sp>
        <p:sp>
          <p:nvSpPr>
            <p:cNvPr id="61" name="Text 57"/>
            <p:cNvSpPr/>
            <p:nvPr/>
          </p:nvSpPr>
          <p:spPr>
            <a:xfrm>
              <a:off x="7470648" y="3762756"/>
              <a:ext cx="13990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8204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贴近 AI 写代码库心智</a:t>
              </a:r>
              <a:endParaRPr lang="en-US" sz="1150" dirty="0"/>
            </a:p>
          </p:txBody>
        </p:sp>
      </p:grpSp>
      <p:sp>
        <p:nvSpPr>
          <p:cNvPr id="62" name="Shape 58"/>
          <p:cNvSpPr/>
          <p:nvPr/>
        </p:nvSpPr>
        <p:spPr>
          <a:xfrm>
            <a:off x="1143000" y="4800600"/>
            <a:ext cx="7452360" cy="795528"/>
          </a:xfrm>
          <a:prstGeom prst="roundRect">
            <a:avLst>
              <a:gd name="adj" fmla="val 9195"/>
            </a:avLst>
          </a:prstGeom>
          <a:solidFill>
            <a:srgbClr val="FFFFFF">
              <a:alpha val="95000"/>
            </a:srgbClr>
          </a:solidFill>
          <a:ln w="10160">
            <a:solidFill>
              <a:srgbClr val="E7EEF9">
                <a:alpha val="8000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452835" y="49651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FF5FF"/>
          </a:solidFill>
          <a:ln w="7620">
            <a:solidFill>
              <a:srgbClr val="E7F0FF">
                <a:alpha val="80000"/>
              </a:srgbClr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2057400" y="499262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2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</a:t>
            </a:r>
            <a:r>
              <a:rPr lang="zh-CN" altLang="en-US" sz="1350" b="1" dirty="0">
                <a:solidFill>
                  <a:srgbClr val="082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</a:t>
            </a:r>
            <a:r>
              <a:rPr lang="en-US" sz="1350" b="1" dirty="0" err="1">
                <a:solidFill>
                  <a:srgbClr val="082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</a:t>
            </a:r>
            <a:endParaRPr lang="en-US" sz="1350" dirty="0"/>
          </a:p>
        </p:txBody>
      </p:sp>
      <p:sp>
        <p:nvSpPr>
          <p:cNvPr id="66" name="Text 62"/>
          <p:cNvSpPr/>
          <p:nvPr/>
        </p:nvSpPr>
        <p:spPr>
          <a:xfrm>
            <a:off x="2057400" y="521208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708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精准定位，高效检索</a:t>
            </a:r>
            <a:endParaRPr lang="en-US" sz="970" dirty="0"/>
          </a:p>
        </p:txBody>
      </p:sp>
      <p:sp>
        <p:nvSpPr>
          <p:cNvPr id="67" name="Shape 63"/>
          <p:cNvSpPr/>
          <p:nvPr/>
        </p:nvSpPr>
        <p:spPr>
          <a:xfrm>
            <a:off x="4069080" y="49651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FF5FF"/>
          </a:solidFill>
          <a:ln w="7620">
            <a:solidFill>
              <a:srgbClr val="E7F0FF">
                <a:alpha val="8000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663440" y="499262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2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结构化阅读</a:t>
            </a:r>
            <a:endParaRPr lang="en-US" sz="1350" dirty="0"/>
          </a:p>
        </p:txBody>
      </p:sp>
      <p:sp>
        <p:nvSpPr>
          <p:cNvPr id="70" name="Text 66"/>
          <p:cNvSpPr/>
          <p:nvPr/>
        </p:nvSpPr>
        <p:spPr>
          <a:xfrm>
            <a:off x="4663440" y="521208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708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理解脉络，掌握全局</a:t>
            </a:r>
            <a:endParaRPr lang="en-US" sz="970" dirty="0"/>
          </a:p>
        </p:txBody>
      </p:sp>
      <p:sp>
        <p:nvSpPr>
          <p:cNvPr id="71" name="Shape 67"/>
          <p:cNvSpPr/>
          <p:nvPr/>
        </p:nvSpPr>
        <p:spPr>
          <a:xfrm>
            <a:off x="6720840" y="49651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FF5FF"/>
          </a:solidFill>
          <a:ln w="7620">
            <a:solidFill>
              <a:srgbClr val="E7F0FF">
                <a:alpha val="8000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6720840" y="4992624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73" name="Text 69"/>
          <p:cNvSpPr/>
          <p:nvPr/>
        </p:nvSpPr>
        <p:spPr>
          <a:xfrm>
            <a:off x="7315200" y="499262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082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人类在场</a:t>
            </a:r>
            <a:endParaRPr lang="en-US" sz="1350" dirty="0"/>
          </a:p>
        </p:txBody>
      </p:sp>
      <p:sp>
        <p:nvSpPr>
          <p:cNvPr id="74" name="Text 70"/>
          <p:cNvSpPr/>
          <p:nvPr/>
        </p:nvSpPr>
        <p:spPr>
          <a:xfrm>
            <a:off x="7315200" y="521208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70" b="1" dirty="0">
                <a:solidFill>
                  <a:srgbClr val="7084A6"/>
                </a:solidFill>
                <a:latin typeface="Microsoft YaHei" pitchFamily="34" charset="0"/>
                <a:ea typeface="Microsoft YaHei" pitchFamily="34" charset="-122"/>
              </a:rPr>
              <a:t>你永远是笔记的主人</a:t>
            </a:r>
            <a:endParaRPr lang="en-US" sz="970" dirty="0"/>
          </a:p>
        </p:txBody>
      </p:sp>
      <p:pic>
        <p:nvPicPr>
          <p:cNvPr id="83" name="图形 82" descr="文档 纯色填充">
            <a:extLst>
              <a:ext uri="{FF2B5EF4-FFF2-40B4-BE49-F238E27FC236}">
                <a16:creationId xmlns:a16="http://schemas.microsoft.com/office/drawing/2014/main" id="{24DE44C7-1E2C-2B97-B963-9A64C7232B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5120" y="5035042"/>
            <a:ext cx="260603" cy="260603"/>
          </a:xfrm>
          <a:prstGeom prst="rect">
            <a:avLst/>
          </a:prstGeom>
        </p:spPr>
      </p:pic>
      <p:grpSp>
        <p:nvGrpSpPr>
          <p:cNvPr id="86" name="组合 85">
            <a:extLst>
              <a:ext uri="{FF2B5EF4-FFF2-40B4-BE49-F238E27FC236}">
                <a16:creationId xmlns:a16="http://schemas.microsoft.com/office/drawing/2014/main" id="{E383049B-83A2-BCAC-6158-CE86BF7E2E94}"/>
              </a:ext>
            </a:extLst>
          </p:cNvPr>
          <p:cNvGrpSpPr/>
          <p:nvPr/>
        </p:nvGrpSpPr>
        <p:grpSpPr>
          <a:xfrm>
            <a:off x="5604933" y="3721610"/>
            <a:ext cx="1207008" cy="347472"/>
            <a:chOff x="5266944" y="3931920"/>
            <a:chExt cx="1207008" cy="347472"/>
          </a:xfrm>
        </p:grpSpPr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F8897746-4C8A-7220-1708-31E357F6D407}"/>
                </a:ext>
              </a:extLst>
            </p:cNvPr>
            <p:cNvGrpSpPr/>
            <p:nvPr/>
          </p:nvGrpSpPr>
          <p:grpSpPr>
            <a:xfrm>
              <a:off x="5266944" y="3931920"/>
              <a:ext cx="1207008" cy="347472"/>
              <a:chOff x="5760720" y="3675888"/>
              <a:chExt cx="1207008" cy="347472"/>
            </a:xfrm>
          </p:grpSpPr>
          <p:sp>
            <p:nvSpPr>
              <p:cNvPr id="56" name="Shape 52"/>
              <p:cNvSpPr/>
              <p:nvPr/>
            </p:nvSpPr>
            <p:spPr>
              <a:xfrm>
                <a:off x="5760720" y="3675888"/>
                <a:ext cx="1207008" cy="347472"/>
              </a:xfrm>
              <a:prstGeom prst="roundRect">
                <a:avLst>
                  <a:gd name="adj" fmla="val 36842"/>
                </a:avLst>
              </a:prstGeom>
              <a:solidFill>
                <a:srgbClr val="FFFFFF">
                  <a:alpha val="90000"/>
                </a:srgbClr>
              </a:solidFill>
              <a:ln w="10160">
                <a:solidFill>
                  <a:srgbClr val="BCD1F0"/>
                </a:solidFill>
                <a:prstDash val="solid"/>
              </a:ln>
            </p:spPr>
          </p:sp>
          <p:sp>
            <p:nvSpPr>
              <p:cNvPr id="58" name="Text 54"/>
              <p:cNvSpPr/>
              <p:nvPr/>
            </p:nvSpPr>
            <p:spPr>
              <a:xfrm>
                <a:off x="6080760" y="3762756"/>
                <a:ext cx="822960" cy="1554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08204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不做大而全</a:t>
                </a:r>
                <a:endParaRPr lang="en-US" sz="1150" dirty="0"/>
              </a:p>
            </p:txBody>
          </p:sp>
        </p:grpSp>
        <p:pic>
          <p:nvPicPr>
            <p:cNvPr id="85" name="图形 84" descr="靶心 纯色填充">
              <a:extLst>
                <a:ext uri="{FF2B5EF4-FFF2-40B4-BE49-F238E27FC236}">
                  <a16:creationId xmlns:a16="http://schemas.microsoft.com/office/drawing/2014/main" id="{344EBF95-687A-03B9-E122-32FA5E0A4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45811" y="3993642"/>
              <a:ext cx="215392" cy="215392"/>
            </a:xfrm>
            <a:prstGeom prst="rect">
              <a:avLst/>
            </a:prstGeom>
          </p:spPr>
        </p:pic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3378C177-58DC-AB49-DECD-CC617D2C990F}"/>
              </a:ext>
            </a:extLst>
          </p:cNvPr>
          <p:cNvGrpSpPr/>
          <p:nvPr/>
        </p:nvGrpSpPr>
        <p:grpSpPr>
          <a:xfrm>
            <a:off x="5609756" y="3201242"/>
            <a:ext cx="746497" cy="347472"/>
            <a:chOff x="5529326" y="2951480"/>
            <a:chExt cx="841248" cy="347472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CBF857DE-BFA8-6BC3-11C0-76A6EAE518A6}"/>
                </a:ext>
              </a:extLst>
            </p:cNvPr>
            <p:cNvGrpSpPr/>
            <p:nvPr/>
          </p:nvGrpSpPr>
          <p:grpSpPr>
            <a:xfrm>
              <a:off x="5529326" y="2951480"/>
              <a:ext cx="841248" cy="347472"/>
              <a:chOff x="5760720" y="2971800"/>
              <a:chExt cx="841248" cy="347472"/>
            </a:xfrm>
          </p:grpSpPr>
          <p:sp>
            <p:nvSpPr>
              <p:cNvPr id="44" name="Shape 40"/>
              <p:cNvSpPr/>
              <p:nvPr/>
            </p:nvSpPr>
            <p:spPr>
              <a:xfrm>
                <a:off x="5760720" y="2971800"/>
                <a:ext cx="841248" cy="347472"/>
              </a:xfrm>
              <a:prstGeom prst="roundRect">
                <a:avLst>
                  <a:gd name="adj" fmla="val 36842"/>
                </a:avLst>
              </a:prstGeom>
              <a:solidFill>
                <a:srgbClr val="FFFFFF">
                  <a:alpha val="90000"/>
                </a:srgbClr>
              </a:solidFill>
              <a:ln w="10160">
                <a:solidFill>
                  <a:srgbClr val="BCD1F0"/>
                </a:solidFill>
                <a:prstDash val="solid"/>
              </a:ln>
            </p:spPr>
          </p:sp>
          <p:sp>
            <p:nvSpPr>
              <p:cNvPr id="46" name="Text 42"/>
              <p:cNvSpPr/>
              <p:nvPr/>
            </p:nvSpPr>
            <p:spPr>
              <a:xfrm>
                <a:off x="6080760" y="3058668"/>
                <a:ext cx="457200" cy="1554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08204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高效</a:t>
                </a:r>
                <a:endParaRPr lang="en-US" sz="1150" dirty="0"/>
              </a:p>
            </p:txBody>
          </p:sp>
        </p:grpSp>
        <p:pic>
          <p:nvPicPr>
            <p:cNvPr id="88" name="图形 87" descr="火箭 纯色填充">
              <a:extLst>
                <a:ext uri="{FF2B5EF4-FFF2-40B4-BE49-F238E27FC236}">
                  <a16:creationId xmlns:a16="http://schemas.microsoft.com/office/drawing/2014/main" id="{AE47AA8B-99C6-2914-6035-2ED7CED34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38548" y="3036230"/>
              <a:ext cx="155194" cy="155194"/>
            </a:xfrm>
            <a:prstGeom prst="rect">
              <a:avLst/>
            </a:prstGeom>
          </p:spPr>
        </p:pic>
      </p:grpSp>
      <p:pic>
        <p:nvPicPr>
          <p:cNvPr id="91" name="图形 90" descr="复选标记 纯色填充">
            <a:extLst>
              <a:ext uri="{FF2B5EF4-FFF2-40B4-BE49-F238E27FC236}">
                <a16:creationId xmlns:a16="http://schemas.microsoft.com/office/drawing/2014/main" id="{1A03C4B2-36E6-8BBF-D533-AC6CEF60EC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9879" y="3281293"/>
            <a:ext cx="146054" cy="164592"/>
          </a:xfrm>
          <a:prstGeom prst="rect">
            <a:avLst/>
          </a:prstGeom>
        </p:spPr>
      </p:pic>
      <p:grpSp>
        <p:nvGrpSpPr>
          <p:cNvPr id="97" name="组合 96">
            <a:extLst>
              <a:ext uri="{FF2B5EF4-FFF2-40B4-BE49-F238E27FC236}">
                <a16:creationId xmlns:a16="http://schemas.microsoft.com/office/drawing/2014/main" id="{CEFCA954-085C-63DB-6504-06835AF40DC0}"/>
              </a:ext>
            </a:extLst>
          </p:cNvPr>
          <p:cNvGrpSpPr/>
          <p:nvPr/>
        </p:nvGrpSpPr>
        <p:grpSpPr>
          <a:xfrm>
            <a:off x="8109503" y="3205052"/>
            <a:ext cx="746494" cy="347472"/>
            <a:chOff x="8338101" y="2955290"/>
            <a:chExt cx="746494" cy="347472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5798BF8C-C033-038E-4EDA-12D9C4508711}"/>
                </a:ext>
              </a:extLst>
            </p:cNvPr>
            <p:cNvGrpSpPr/>
            <p:nvPr/>
          </p:nvGrpSpPr>
          <p:grpSpPr>
            <a:xfrm>
              <a:off x="8338101" y="2955290"/>
              <a:ext cx="746494" cy="347472"/>
              <a:chOff x="7607808" y="2971800"/>
              <a:chExt cx="713232" cy="347472"/>
            </a:xfrm>
          </p:grpSpPr>
          <p:sp>
            <p:nvSpPr>
              <p:cNvPr id="50" name="Shape 46"/>
              <p:cNvSpPr/>
              <p:nvPr/>
            </p:nvSpPr>
            <p:spPr>
              <a:xfrm>
                <a:off x="7607808" y="2971800"/>
                <a:ext cx="713232" cy="347472"/>
              </a:xfrm>
              <a:prstGeom prst="roundRect">
                <a:avLst>
                  <a:gd name="adj" fmla="val 36842"/>
                </a:avLst>
              </a:prstGeom>
              <a:solidFill>
                <a:srgbClr val="FFFFFF">
                  <a:alpha val="90000"/>
                </a:srgbClr>
              </a:solidFill>
              <a:ln w="10160">
                <a:solidFill>
                  <a:srgbClr val="BCD1F0"/>
                </a:solidFill>
                <a:prstDash val="solid"/>
              </a:ln>
            </p:spPr>
          </p:sp>
          <p:sp>
            <p:nvSpPr>
              <p:cNvPr id="51" name="Text 47"/>
              <p:cNvSpPr/>
              <p:nvPr/>
            </p:nvSpPr>
            <p:spPr>
              <a:xfrm>
                <a:off x="7717536" y="3044952"/>
                <a:ext cx="18288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10000"/>
              </a:bodyPr>
              <a:lstStyle/>
              <a:p>
                <a:pPr marL="0" indent="0" algn="ctr">
                  <a:buNone/>
                </a:pPr>
                <a:endParaRPr lang="en-US" sz="1350" dirty="0"/>
              </a:p>
            </p:txBody>
          </p:sp>
          <p:sp>
            <p:nvSpPr>
              <p:cNvPr id="52" name="Text 48"/>
              <p:cNvSpPr/>
              <p:nvPr/>
            </p:nvSpPr>
            <p:spPr>
              <a:xfrm>
                <a:off x="7885208" y="3060446"/>
                <a:ext cx="329184" cy="1554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08204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安全</a:t>
                </a:r>
                <a:endParaRPr lang="en-US" sz="1150" dirty="0"/>
              </a:p>
            </p:txBody>
          </p:sp>
        </p:grpSp>
        <p:pic>
          <p:nvPicPr>
            <p:cNvPr id="93" name="图形 92" descr="菱形 纯色填充">
              <a:extLst>
                <a:ext uri="{FF2B5EF4-FFF2-40B4-BE49-F238E27FC236}">
                  <a16:creationId xmlns:a16="http://schemas.microsoft.com/office/drawing/2014/main" id="{2E4F1A04-F5BB-8A73-281F-848BE8EC7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470499" y="3047619"/>
              <a:ext cx="134052" cy="151067"/>
            </a:xfrm>
            <a:prstGeom prst="rect">
              <a:avLst/>
            </a:prstGeom>
          </p:spPr>
        </p:pic>
      </p:grpSp>
      <p:pic>
        <p:nvPicPr>
          <p:cNvPr id="101" name="图形 100" descr="带齿轮的头部 纯色填充">
            <a:extLst>
              <a:ext uri="{FF2B5EF4-FFF2-40B4-BE49-F238E27FC236}">
                <a16:creationId xmlns:a16="http://schemas.microsoft.com/office/drawing/2014/main" id="{572F1901-AF77-13F8-34A0-29FDF3C7929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82326" y="5015916"/>
            <a:ext cx="319175" cy="319175"/>
          </a:xfrm>
          <a:prstGeom prst="rect">
            <a:avLst/>
          </a:prstGeom>
        </p:spPr>
      </p:pic>
      <p:pic>
        <p:nvPicPr>
          <p:cNvPr id="111" name="图形 110" descr="研究 纯色填充">
            <a:extLst>
              <a:ext uri="{FF2B5EF4-FFF2-40B4-BE49-F238E27FC236}">
                <a16:creationId xmlns:a16="http://schemas.microsoft.com/office/drawing/2014/main" id="{0450A304-620A-8ABA-3329-F7E23E5FAAF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08672" y="5008837"/>
            <a:ext cx="321479" cy="321479"/>
          </a:xfrm>
          <a:prstGeom prst="rect">
            <a:avLst/>
          </a:prstGeom>
        </p:spPr>
      </p:pic>
      <p:sp>
        <p:nvSpPr>
          <p:cNvPr id="112" name="Shape 18">
            <a:extLst>
              <a:ext uri="{FF2B5EF4-FFF2-40B4-BE49-F238E27FC236}">
                <a16:creationId xmlns:a16="http://schemas.microsoft.com/office/drawing/2014/main" id="{DB6B1483-5992-79DA-995F-74E317F188FF}"/>
              </a:ext>
            </a:extLst>
          </p:cNvPr>
          <p:cNvSpPr/>
          <p:nvPr/>
        </p:nvSpPr>
        <p:spPr>
          <a:xfrm>
            <a:off x="338328" y="2554351"/>
            <a:ext cx="0" cy="413004"/>
          </a:xfrm>
          <a:prstGeom prst="line">
            <a:avLst/>
          </a:prstGeom>
          <a:noFill/>
          <a:ln w="8890">
            <a:solidFill>
              <a:srgbClr val="D9E6F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55</Words>
  <Application>Microsoft Office PowerPoint</Application>
  <PresentationFormat>全屏显示(4:3)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Microsoft YaHei</vt:lpstr>
      <vt:lpstr>Arial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思源桥 MCP Preview</dc:title>
  <dc:subject>思源桥 MCP 宣传页</dc:subject>
  <dc:creator>OpenAI</dc:creator>
  <cp:lastModifiedBy>Zinger</cp:lastModifiedBy>
  <cp:revision>3</cp:revision>
  <dcterms:created xsi:type="dcterms:W3CDTF">2026-06-07T12:25:24Z</dcterms:created>
  <dcterms:modified xsi:type="dcterms:W3CDTF">2026-06-07T13:08:44Z</dcterms:modified>
</cp:coreProperties>
</file>